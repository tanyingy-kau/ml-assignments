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9144000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tableStyles" Target="tableStyles.xml"/><Relationship Id="rId20" Type="http://schemas.openxmlformats.org/officeDocument/2006/relationships/viewProps" Target="viewProps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375162-901F-1A9E-7D7B-59FE721E77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61AE3D-D47D-000E-53BF-3F00BE21D7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5C10C3-3248-C34E-A225-74AB16A632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C8531-625B-622B-B525-AE6921408C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6F1D28-015E-90BC-8746-860B3956DAE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A39BBC7-A86A-F93F-3583-1CD5C0416E7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C064C1-C6A8-ABD6-6E27-7D7194006C5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6C9261C-C023-7D99-AA84-0F0141876EF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4B047B-EF45-55BC-F6A2-62F410FFFF4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1BDC72-98C1-F486-A599-1667AB4AA76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6BCD86-B072-ABAA-E298-0F4FCAB1AB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4070D6-9A8C-4C52-0388-05A97E22F8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AE3952-E755-D1B3-9382-A058E304D5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941593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31549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2339063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7864789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30512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46515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6566917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932911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195245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9871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095323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7900351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5890279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83005731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402566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13873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101015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1853329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5130511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547107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193480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800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4443868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9339042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9672942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522093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5253255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16473970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994367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548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9044597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9289744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877604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710318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14301131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735737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280101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41944427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0600030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0851250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3337049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676137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28148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8423602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2948239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6100365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6923317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235348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05840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5568710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318079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5319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691826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87393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941079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269436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90083564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81817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3169411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1687036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9530020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0742191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6647994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0EBF5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1267594" name="TextBox 1"/>
          <p:cNvSpPr txBox="1"/>
          <p:nvPr/>
        </p:nvSpPr>
        <p:spPr bwMode="auto"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6A4A8C"/>
                </a:solidFill>
              </a:defRPr>
            </a:pPr>
            <a:r>
              <a:rPr/>
              <a:t>Ethanol Concentration Prediction</a:t>
            </a:r>
            <a:endParaRPr/>
          </a:p>
        </p:txBody>
      </p:sp>
      <p:sp>
        <p:nvSpPr>
          <p:cNvPr id="1304171871" name="TextBox 2"/>
          <p:cNvSpPr txBox="1"/>
          <p:nvPr/>
        </p:nvSpPr>
        <p:spPr bwMode="auto"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282828"/>
                </a:solidFill>
              </a:defRPr>
            </a:pPr>
            <a:r>
              <a:rPr/>
              <a:t>in Syngas Fermentation Process</a:t>
            </a:r>
            <a:endParaRPr/>
          </a:p>
        </p:txBody>
      </p:sp>
      <p:sp>
        <p:nvSpPr>
          <p:cNvPr id="1412007397" name="TextBox 3"/>
          <p:cNvSpPr txBox="1"/>
          <p:nvPr/>
        </p:nvSpPr>
        <p:spPr bwMode="auto">
          <a:xfrm>
            <a:off x="457200" y="5029199"/>
            <a:ext cx="8229960" cy="64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Solo Project - Student: Ying Tan</a:t>
            </a:r>
          </a:p>
          <a:p>
            <a:r>
              <a:t>Machine Learning (CIS 732 ) - Spring 2026</a:t>
            </a:r>
          </a:p>
          <a:p>
            <a:r>
              <a:t>Updated: May 10, 2026 (Ablation + Runtime Added)</a:t>
            </a:r>
          </a:p>
        </p:txBody>
      </p:sp>
      <p:sp>
        <p:nvSpPr>
          <p:cNvPr id="1945046715" name="TextBox 4"/>
          <p:cNvSpPr txBox="1"/>
          <p:nvPr/>
        </p:nvSpPr>
        <p:spPr bwMode="auto">
          <a:xfrm>
            <a:off x="8229600" y="6400800"/>
            <a:ext cx="600680" cy="2746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7853163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68841384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Background &amp; Motivation</a:t>
            </a:r>
            <a:endParaRPr/>
          </a:p>
        </p:txBody>
      </p:sp>
      <p:sp>
        <p:nvSpPr>
          <p:cNvPr id="1125481995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Syngas fermentation produces ethanol from syngas (CO, CO2, H2, N2)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Accurate ethanol prediction enables real-time process control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Research Question: Can ML predict ethanol from gas composition and process variables?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Goal: Compare Linear Regression, Random Forest, and Neural Networks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Dataset: 176 experimental samples from syngas fermentation lab</a:t>
            </a:r>
            <a:endParaRPr/>
          </a:p>
        </p:txBody>
      </p:sp>
      <p:sp>
        <p:nvSpPr>
          <p:cNvPr id="622139671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2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990119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7892563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Dataset &amp; Features</a:t>
            </a:r>
            <a:endParaRPr/>
          </a:p>
        </p:txBody>
      </p:sp>
      <p:sp>
        <p:nvSpPr>
          <p:cNvPr id="1746418177" name="TextBox 3"/>
          <p:cNvSpPr txBox="1"/>
          <p:nvPr/>
        </p:nvSpPr>
        <p:spPr bwMode="auto">
          <a:xfrm flipH="0" flipV="0">
            <a:off x="395748" y="822960"/>
            <a:ext cx="7945304" cy="262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Source: Public SyngasMachineLearning GitHub repository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Samples: 176 experimental measurements from fermentation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Input Features (7): time, N2, CO, CO2, H2, flow rate, composition setting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Target: ethanol concentration (mM) — range 0.00–108.94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Train-Test: 80-20 split (141 train, 35 test samples)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Preprocessing: StandardScaler for feature normalization (MLP only)</a:t>
            </a:r>
            <a:endParaRPr/>
          </a:p>
        </p:txBody>
      </p:sp>
      <p:pic>
        <p:nvPicPr>
          <p:cNvPr id="114091713" name="Picture 4" descr="syngas_feature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32589" y="3516261"/>
            <a:ext cx="5207055" cy="2957786"/>
          </a:xfrm>
          <a:prstGeom prst="rect">
            <a:avLst/>
          </a:prstGeom>
        </p:spPr>
      </p:pic>
      <p:sp>
        <p:nvSpPr>
          <p:cNvPr id="935785395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4004173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50238128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Methods &amp; Models</a:t>
            </a:r>
            <a:endParaRPr/>
          </a:p>
        </p:txBody>
      </p:sp>
      <p:sp>
        <p:nvSpPr>
          <p:cNvPr id="1983885827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Three supervised regression models: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Linear Regression: baseline, fast, interpretable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Random Forest (200 trees): ensemble, captures non-linearity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MLP (64→32 neurons): deep learning with feature scaling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Metrics: RMSE, MAE, R² Score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Robustness: 30 random splits to assess stability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Statistical Testing: Paired t-test &amp; Wilcoxon (α=0.05)</a:t>
            </a:r>
            <a:endParaRPr/>
          </a:p>
        </p:txBody>
      </p:sp>
      <p:sp>
        <p:nvSpPr>
          <p:cNvPr id="2028333812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8691131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61549421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Experimental Protocol</a:t>
            </a:r>
            <a:endParaRPr/>
          </a:p>
        </p:txBody>
      </p:sp>
      <p:sp>
        <p:nvSpPr>
          <p:cNvPr id="2103144146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Phase 1: Fixed-seed (42) evaluation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Reproducible baseline on single train-test split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Fair comparison with identical hyperparameters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Phase 2: Robustness analysis (30 random seeds)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Each model trained 30 times with different random states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Confirms performance differences are stable and generalizable</a:t>
            </a:r>
            <a:endParaRPr/>
          </a:p>
        </p:txBody>
      </p:sp>
      <p:sp>
        <p:nvSpPr>
          <p:cNvPr id="1246704122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5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483196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15148482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Fixed-Split Performance (Seed=42)</a:t>
            </a:r>
            <a:endParaRPr/>
          </a:p>
        </p:txBody>
      </p:sp>
      <p:sp>
        <p:nvSpPr>
          <p:cNvPr id="842830463" name="TextBox 3"/>
          <p:cNvSpPr txBox="1"/>
          <p:nvPr/>
        </p:nvSpPr>
        <p:spPr bwMode="auto">
          <a:xfrm>
            <a:off x="4572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Linear Regression (baseline):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RMSE: 12.1832 mM  |  MAE: 9.2922  |  R²: 0.6340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Random Forest (BEST):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RMSE: 4.3706 mM  |  MAE: 3.0850  |  R²: 0.9529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MLP Regressor: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RMSE: 5.5337 mM  |  MAE: 4.0084  |  R²: 0.9245</a:t>
            </a:r>
            <a:endParaRPr/>
          </a:p>
        </p:txBody>
      </p:sp>
      <p:pic>
        <p:nvPicPr>
          <p:cNvPr id="1165801218" name="Picture 4" descr="syngas_metric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4880" y="1371600"/>
            <a:ext cx="3931920" cy="2345635"/>
          </a:xfrm>
          <a:prstGeom prst="rect">
            <a:avLst/>
          </a:prstGeom>
        </p:spPr>
      </p:pic>
      <p:sp>
        <p:nvSpPr>
          <p:cNvPr id="64158923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7175467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82253831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Robustness &amp; Stability (30-Fold)</a:t>
            </a:r>
            <a:endParaRPr/>
          </a:p>
        </p:txBody>
      </p:sp>
      <p:sp>
        <p:nvSpPr>
          <p:cNvPr id="1784153697" name="TextBox 3"/>
          <p:cNvSpPr txBox="1"/>
          <p:nvPr/>
        </p:nvSpPr>
        <p:spPr bwMode="auto">
          <a:xfrm>
            <a:off x="4572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Cross-validation Results: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LR mean RMSE: 14.3956 ± 1.7770 mM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RF mean RMSE: 9.4793 ± 1.7977 mM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MLP mean RMSE: 9.7274 ± 2.5986 mM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RF maintains best performance across all 30 splits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Low variance indicates stable, generalizable model</a:t>
            </a:r>
            <a:endParaRPr/>
          </a:p>
        </p:txBody>
      </p:sp>
      <p:pic>
        <p:nvPicPr>
          <p:cNvPr id="64687757" name="Picture 4" descr="syngas_robustnes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4880" y="1371600"/>
            <a:ext cx="3931920" cy="2341659"/>
          </a:xfrm>
          <a:prstGeom prst="rect">
            <a:avLst/>
          </a:prstGeom>
        </p:spPr>
      </p:pic>
      <p:sp>
        <p:nvSpPr>
          <p:cNvPr id="184157841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7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179416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0404628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Statistical Hypothesis Testing</a:t>
            </a:r>
            <a:endParaRPr/>
          </a:p>
        </p:txBody>
      </p:sp>
      <p:sp>
        <p:nvSpPr>
          <p:cNvPr id="1061546170" name="TextBox 3"/>
          <p:cNvSpPr txBox="1"/>
          <p:nvPr/>
        </p:nvSpPr>
        <p:spPr bwMode="auto">
          <a:xfrm>
            <a:off x="4572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Null Hypothesis (H0): No difference between LR and RF error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Alternative (H1): RF has significantly lower error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Paired t-test p-value: 2.79e-06 *** SIGNIFICANT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Wilcoxon p-value: 3.02e-06 *** SIGNIFICANT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Conclusion: RF is statistically proven superior (p &lt;&lt; 0.05)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Random Forest is the optimal choice for this fermentation task</a:t>
            </a:r>
            <a:endParaRPr/>
          </a:p>
        </p:txBody>
      </p:sp>
      <p:pic>
        <p:nvPicPr>
          <p:cNvPr id="1480677841" name="Picture 4" descr="syngas_significanc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4880" y="1371600"/>
            <a:ext cx="3931920" cy="2345635"/>
          </a:xfrm>
          <a:prstGeom prst="rect">
            <a:avLst/>
          </a:prstGeom>
        </p:spPr>
      </p:pic>
      <p:sp>
        <p:nvSpPr>
          <p:cNvPr id="1306621566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8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853300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900807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Random Forest: Prediction Accuracy</a:t>
            </a:r>
            <a:endParaRPr/>
          </a:p>
        </p:txBody>
      </p:sp>
      <p:sp>
        <p:nvSpPr>
          <p:cNvPr id="1509351948" name="TextBox 3"/>
          <p:cNvSpPr txBox="1"/>
          <p:nvPr/>
        </p:nvSpPr>
        <p:spPr bwMode="auto">
          <a:xfrm>
            <a:off x="457200" y="109728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Actual vs Predicted scatter plot (test set, 35 samples)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R² = 0.9529: explains 95.3% of ethanol variance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RMSE = 4.3706 mM: average prediction error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Points cluster tightly around diagonal (perfect prediction)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Few outliers, overall excellent predictive performance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Ready for deployment in fermentation control systems</a:t>
            </a:r>
            <a:endParaRPr/>
          </a:p>
        </p:txBody>
      </p:sp>
      <p:pic>
        <p:nvPicPr>
          <p:cNvPr id="281035868" name="Picture 4" descr="syngas_rf_scatter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754880" y="1371600"/>
            <a:ext cx="3931920" cy="2345635"/>
          </a:xfrm>
          <a:prstGeom prst="rect">
            <a:avLst/>
          </a:prstGeom>
        </p:spPr>
      </p:pic>
      <p:sp>
        <p:nvSpPr>
          <p:cNvPr id="1782306440" name="TextBox 5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5548558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4892744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Conclusions: Key Findings</a:t>
            </a:r>
            <a:endParaRPr/>
          </a:p>
        </p:txBody>
      </p:sp>
      <p:pic>
        <p:nvPicPr>
          <p:cNvPr id="530228245" name="Picture 3" descr="syngas_metric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74320" y="1188720"/>
            <a:ext cx="2560320" cy="1527390"/>
          </a:xfrm>
          <a:prstGeom prst="rect">
            <a:avLst/>
          </a:prstGeom>
        </p:spPr>
      </p:pic>
      <p:pic>
        <p:nvPicPr>
          <p:cNvPr id="125494179" name="Picture 4" descr="syngas_robustness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200400" y="1188720"/>
            <a:ext cx="2560320" cy="1524801"/>
          </a:xfrm>
          <a:prstGeom prst="rect">
            <a:avLst/>
          </a:prstGeom>
        </p:spPr>
      </p:pic>
      <p:pic>
        <p:nvPicPr>
          <p:cNvPr id="1157978273" name="Picture 5" descr="syngas_significance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126480" y="1188720"/>
            <a:ext cx="2560320" cy="1527390"/>
          </a:xfrm>
          <a:prstGeom prst="rect">
            <a:avLst/>
          </a:prstGeom>
        </p:spPr>
      </p:pic>
      <p:sp>
        <p:nvSpPr>
          <p:cNvPr id="783602494" name="TextBox 6"/>
          <p:cNvSpPr txBox="1"/>
          <p:nvPr/>
        </p:nvSpPr>
        <p:spPr bwMode="auto">
          <a:xfrm>
            <a:off x="457200" y="3749039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1. Random Forest significantly outperforms Linear Regression for ethanol prediction</a:t>
            </a: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2. Statistical tests (p-values &lt; 10⁻⁶) prove difference is statistically real, not random</a:t>
            </a: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3. 30-fold robustness confirms stable, generalizable performance across data splits</a:t>
            </a: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4. RF achieves R² = 0.9529, explaining 95.3% of ethanol concentration variance</a:t>
            </a:r>
            <a:endParaRPr/>
          </a:p>
          <a:p>
            <a:pPr>
              <a:spcBef>
                <a:spcPts val="400"/>
              </a:spcBef>
              <a:spcAft>
                <a:spcPts val="400"/>
              </a:spcAft>
              <a:defRPr sz="1300">
                <a:solidFill>
                  <a:srgbClr val="282828"/>
                </a:solidFill>
              </a:defRPr>
            </a:pPr>
            <a:r>
              <a:rPr/>
              <a:t>5. Recommendation: Deploy Random Forest for real-time syngas fermentation monitoring</a:t>
            </a:r>
            <a:endParaRPr/>
          </a:p>
        </p:txBody>
      </p:sp>
      <p:sp>
        <p:nvSpPr>
          <p:cNvPr id="88907197" name="TextBox 7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3182836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6659204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Q1: Most Technically Challenging Aspect</a:t>
            </a:r>
            <a:endParaRPr/>
          </a:p>
        </p:txBody>
      </p:sp>
      <p:sp>
        <p:nvSpPr>
          <p:cNvPr id="1706545967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Feature scaling complexities: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MLP requires StandardScaler, but RF does not (avoids scaling bias)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Finding optimal scaling strategy for small dataset (176 samples)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Hyperparameter tuning with limited data: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30% validation set already small (35 test samples)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RF with 200 trees: risk of overfitting vs underfitting balance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Statistical testing with small sample sizes: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Paired t-test assumes normality; Wilcoxon as robust alternative</a:t>
            </a:r>
            <a:endParaRPr/>
          </a:p>
        </p:txBody>
      </p:sp>
      <p:sp>
        <p:nvSpPr>
          <p:cNvPr id="1925224087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11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2017645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838486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Q2: Most Important Learning</a:t>
            </a:r>
            <a:endParaRPr/>
          </a:p>
        </p:txBody>
      </p:sp>
      <p:sp>
        <p:nvSpPr>
          <p:cNvPr id="776259266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Ensemble methods (Random Forest) dominate on small tabular data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Why: Less prone to overfitting than single complex models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Statistical significance vs empirical performance: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High accuracy (R²=0.95) alone insufficient without p-value proof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Our p-values &lt; 1e-6 provide overwhelming evidence RF is superior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Reproducibility through fixed seeds and robustness testing: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Single train-test split can be luck; 30-fold cross-validation is proof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Seed 42 enables debugging; 30 seeds enable confidence</a:t>
            </a:r>
            <a:endParaRPr/>
          </a:p>
        </p:txBody>
      </p:sp>
      <p:sp>
        <p:nvSpPr>
          <p:cNvPr id="967645747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12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971075" name="Rectangle 1"/>
          <p:cNvSpPr/>
          <p:nvPr/>
        </p:nvSpPr>
        <p:spPr bwMode="auto">
          <a:xfrm>
            <a:off x="0" y="0"/>
            <a:ext cx="9144000" cy="82296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8141858" name="TextBox 2"/>
          <p:cNvSpPr txBox="1"/>
          <p:nvPr/>
        </p:nvSpPr>
        <p:spPr bwMode="auto"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rPr/>
              <a:t>Q3: Future Work Priorities</a:t>
            </a:r>
            <a:endParaRPr/>
          </a:p>
        </p:txBody>
      </p:sp>
      <p:sp>
        <p:nvSpPr>
          <p:cNvPr id="112701116" name="TextBox 3"/>
          <p:cNvSpPr txBox="1"/>
          <p:nvPr/>
        </p:nvSpPr>
        <p:spPr bwMode="auto">
          <a:xfrm>
            <a:off x="457200" y="109728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Feature importance analysis: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Which gas (CO/CO2/H2) matters most for ethanol?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Use SHAP or permutation importance for explainability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Advanced hyperparameter optimization: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Grid search on RF tree depth, n_estimators, min_samples_leaf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Early stopping for MLP to improve convergence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• Real-time deployment: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Validate on new fermentation experiments (out-of-lab data)</a:t>
            </a:r>
            <a:endParaRPr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rPr/>
              <a:t>  – Integrate model into SCADA system for process monitoring</a:t>
            </a:r>
            <a:endParaRPr/>
          </a:p>
        </p:txBody>
      </p:sp>
      <p:sp>
        <p:nvSpPr>
          <p:cNvPr id="1728601521" name="TextBox 4"/>
          <p:cNvSpPr txBox="1"/>
          <p:nvPr/>
        </p:nvSpPr>
        <p:spPr bwMode="auto">
          <a:xfrm>
            <a:off x="822960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A4A8C"/>
                </a:solidFill>
              </a:defRPr>
            </a:pPr>
            <a:r>
              <a:rPr/>
              <a:t>Slide 13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NEW: Scaling Ablation (4 Combinations)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Fixed split (seed=42), exact 4-combo test required by feedback:</a:t>
            </a:r>
          </a:p>
          <a:p>
            <a:pPr>
              <a:defRPr sz="1400"/>
            </a:pPr>
            <a:r>
              <a:t>1) MLP scaled + RF unscaled:   RF RMSE=4.3706, MLP RMSE=5.5337</a:t>
            </a:r>
          </a:p>
          <a:p>
            <a:pPr>
              <a:defRPr sz="1400"/>
            </a:pPr>
            <a:r>
              <a:t>2) MLP scaled + RF scaled:     RF RMSE=4.7972, MLP RMSE=5.5337</a:t>
            </a:r>
          </a:p>
          <a:p>
            <a:pPr>
              <a:defRPr sz="1400"/>
            </a:pPr>
            <a:r>
              <a:t>3) MLP unscaled + RF unscaled: RF RMSE=4.3706, MLP RMSE=5.3398</a:t>
            </a:r>
          </a:p>
          <a:p>
            <a:pPr>
              <a:defRPr sz="1400"/>
            </a:pPr>
            <a:r>
              <a:t>4) MLP unscaled + RF scaled:   RF RMSE=4.7972, MLP RMSE=5.3398</a:t>
            </a:r>
          </a:p>
          <a:p>
            <a:pPr>
              <a:defRPr sz="1400"/>
            </a:pPr>
            <a:r>
              <a:t>Finding: RF is best when unscaled in this dataset; scaling RF degrades RMSE.</a:t>
            </a:r>
          </a:p>
          <a:p>
            <a:pPr>
              <a:defRPr sz="1400"/>
            </a:pPr>
            <a:r>
              <a:t>Finding: MLP is sensitive but not catastrophically unstable in either setting.</a:t>
            </a:r>
          </a:p>
          <a:p>
            <a:pPr>
              <a:defRPr sz="1400"/>
            </a:pPr>
            <a:r>
              <a:t>Evidence files: scripts/scaling_ablation_results.csv, figures/fig12_scaling_ablation_rmse.png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NEW: Wall-Clock Runtime (Train + Inference)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Runtime measured for each ablation combo on same hardware:</a:t>
            </a:r>
          </a:p>
          <a:p>
            <a:pPr>
              <a:defRPr sz="1400"/>
            </a:pPr>
            <a:r>
              <a:t>RF training time:  0.085s to 0.091s</a:t>
            </a:r>
          </a:p>
          <a:p>
            <a:pPr>
              <a:defRPr sz="1400"/>
            </a:pPr>
            <a:r>
              <a:t>MLP training time: 0.278s to 0.284s</a:t>
            </a:r>
          </a:p>
          <a:p>
            <a:pPr>
              <a:defRPr sz="1400"/>
            </a:pPr>
            <a:r>
              <a:t>Inference latency: both models are sub-millisecond per sample.</a:t>
            </a:r>
          </a:p>
          <a:p>
            <a:pPr>
              <a:defRPr sz="1400"/>
            </a:pPr>
            <a:r>
              <a:t>For deployment decision in this project: generalization robustness matters more than speed.</a:t>
            </a:r>
          </a:p>
          <a:p>
            <a:pPr>
              <a:defRPr sz="1400"/>
            </a:pPr>
            <a:r>
              <a:t>Evidence figure: figures/fig13_runtime_ablation.png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Appendix: All Figures with Explanations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The next slides include Figure 1 through Figure 13.</a:t>
            </a:r>
          </a:p>
          <a:p>
            <a:pPr>
              <a:defRPr sz="1800"/>
            </a:pPr>
            <a:r>
              <a:t>Each figure is accompanied by concise interpretation points.</a:t>
            </a:r>
          </a:p>
          <a:p>
            <a:pPr>
              <a:defRPr sz="1800"/>
            </a:pPr>
            <a:r>
              <a:t>These slides are aligned with report evidence and grading feedback.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1: Data Distributions</a:t>
            </a:r>
          </a:p>
        </p:txBody>
      </p:sp>
      <p:pic>
        <p:nvPicPr>
          <p:cNvPr id="3" name="Picture 2" descr="fig1_data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Shows feature/target spread and skewness before model fitting.</a:t>
            </a:r>
          </a:p>
          <a:p>
            <a:pPr>
              <a:defRPr sz="1500"/>
            </a:pPr>
            <a:r>
              <a:t>Confirms heterogeneous scales across variables, motivating scaling analysis.</a:t>
            </a:r>
          </a:p>
          <a:p>
            <a:pPr>
              <a:defRPr sz="1500"/>
            </a:pPr>
            <a:r>
              <a:t>No obvious missing-data artifact in the plotted distributions.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2: Feature vs Target</a:t>
            </a:r>
          </a:p>
        </p:txBody>
      </p:sp>
      <p:pic>
        <p:nvPicPr>
          <p:cNvPr id="3" name="Picture 2" descr="fig2_feature_vs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Visual check for nonlinear relations between each input and ethanol.</a:t>
            </a:r>
          </a:p>
          <a:p>
            <a:pPr>
              <a:defRPr sz="1500"/>
            </a:pPr>
            <a:r>
              <a:t>Supports using nonlinear models (RF/MLP) in addition to LR baseline.</a:t>
            </a:r>
          </a:p>
          <a:p>
            <a:pPr>
              <a:defRPr sz="1500"/>
            </a:pPr>
            <a:r>
              <a:t>Also helps identify potential interaction effects to investigate later.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3: MLP Training Loss Curve</a:t>
            </a:r>
          </a:p>
        </p:txBody>
      </p:sp>
      <p:pic>
        <p:nvPicPr>
          <p:cNvPr id="3" name="Picture 2" descr="fig3_mlp_train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Tracks optimization behavior across epochs for MLP.</a:t>
            </a:r>
          </a:p>
          <a:p>
            <a:pPr>
              <a:defRPr sz="1500"/>
            </a:pPr>
            <a:r>
              <a:t>Demonstrates convergence trend and training stability characteristics.</a:t>
            </a:r>
          </a:p>
          <a:p>
            <a:pPr>
              <a:defRPr sz="1500"/>
            </a:pPr>
            <a:r>
              <a:t>Provides evidence for optimizer sensitivity discussed in report.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4: Train vs Test Performance</a:t>
            </a:r>
          </a:p>
        </p:txBody>
      </p:sp>
      <p:pic>
        <p:nvPicPr>
          <p:cNvPr id="3" name="Picture 2" descr="fig4_train_vs_test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Compares generalization gap for LR, RF, and MLP.</a:t>
            </a:r>
          </a:p>
          <a:p>
            <a:pPr>
              <a:defRPr sz="1500"/>
            </a:pPr>
            <a:r>
              <a:t>RF shows strongest test performance in this dataset.</a:t>
            </a:r>
          </a:p>
          <a:p>
            <a:pPr>
              <a:defRPr sz="1500"/>
            </a:pPr>
            <a:r>
              <a:t>Used to detect overfitting/underfitting patterns across models.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5: LR Actual vs Predicted</a:t>
            </a:r>
          </a:p>
        </p:txBody>
      </p:sp>
      <p:pic>
        <p:nvPicPr>
          <p:cNvPr id="3" name="Picture 2" descr="fig5_scatter_LR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Baseline linear fit on train/test sets.</a:t>
            </a:r>
          </a:p>
          <a:p>
            <a:pPr>
              <a:defRPr sz="1500"/>
            </a:pPr>
            <a:r>
              <a:t>Points deviate from diagonal more than RF/MLP, indicating underfit.</a:t>
            </a:r>
          </a:p>
          <a:p>
            <a:pPr>
              <a:defRPr sz="1500"/>
            </a:pPr>
            <a:r>
              <a:t>Serves as reference model for hypothesis testing.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6: RF Actual vs Predicted</a:t>
            </a:r>
          </a:p>
        </p:txBody>
      </p:sp>
      <p:pic>
        <p:nvPicPr>
          <p:cNvPr id="3" name="Picture 2" descr="fig6_scatter_RF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RF predictions cluster near diagonal, especially on test data.</a:t>
            </a:r>
          </a:p>
          <a:p>
            <a:pPr>
              <a:defRPr sz="1500"/>
            </a:pPr>
            <a:r>
              <a:t>Supports highest R2 and lowest RMSE among compared models.</a:t>
            </a:r>
          </a:p>
          <a:p>
            <a:pPr>
              <a:defRPr sz="1500"/>
            </a:pPr>
            <a:r>
              <a:t>Main evidence for selecting RF as deployment candidate.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7: MLP Actual vs Predicted</a:t>
            </a:r>
          </a:p>
        </p:txBody>
      </p:sp>
      <p:pic>
        <p:nvPicPr>
          <p:cNvPr id="3" name="Picture 2" descr="fig7_scatter_MLP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MLP captures nonlinear trend but is more variable than RF.</a:t>
            </a:r>
          </a:p>
          <a:p>
            <a:pPr>
              <a:defRPr sz="1500"/>
            </a:pPr>
            <a:r>
              <a:t>Performance is competitive yet sensitive to preprocessing/optimization.</a:t>
            </a:r>
          </a:p>
          <a:p>
            <a:pPr>
              <a:defRPr sz="1500"/>
            </a:pPr>
            <a:r>
              <a:t>Used together with ablation to discuss scaling sensitivity.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8: RF Feature Importance</a:t>
            </a:r>
          </a:p>
        </p:txBody>
      </p:sp>
      <p:pic>
        <p:nvPicPr>
          <p:cNvPr id="3" name="Picture 2" descr="fig8_RF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Ranks relative contribution of each feature in RF splits.</a:t>
            </a:r>
          </a:p>
          <a:p>
            <a:pPr>
              <a:defRPr sz="1500"/>
            </a:pPr>
            <a:r>
              <a:t>Improves interpretability for process-monitoring decisions.</a:t>
            </a:r>
          </a:p>
          <a:p>
            <a:pPr>
              <a:defRPr sz="1500"/>
            </a:pPr>
            <a:r>
              <a:t>Guides future feature-engineering priorities.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9: Error Comparison</a:t>
            </a:r>
          </a:p>
        </p:txBody>
      </p:sp>
      <p:pic>
        <p:nvPicPr>
          <p:cNvPr id="3" name="Picture 2" descr="fig9_erro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Compares error distributions across models on the same test data.</a:t>
            </a:r>
          </a:p>
          <a:p>
            <a:pPr>
              <a:defRPr sz="1500"/>
            </a:pPr>
            <a:r>
              <a:t>Paired view supports sample-level statistical tests (t-test/Wilcoxon).</a:t>
            </a:r>
          </a:p>
          <a:p>
            <a:pPr>
              <a:defRPr sz="1500"/>
            </a:pPr>
            <a:r>
              <a:t>Demonstrates RF error is typically below LR error.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10: Robustness Boxplot</a:t>
            </a:r>
          </a:p>
        </p:txBody>
      </p:sp>
      <p:pic>
        <p:nvPicPr>
          <p:cNvPr id="3" name="Picture 2" descr="fig10_robustnes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Summarizes RMSE distribution over 30 random splits.</a:t>
            </a:r>
          </a:p>
          <a:p>
            <a:pPr>
              <a:defRPr sz="1500"/>
            </a:pPr>
            <a:r>
              <a:t>Measures stability beyond one fixed train/test partition.</a:t>
            </a:r>
          </a:p>
          <a:p>
            <a:pPr>
              <a:defRPr sz="1500"/>
            </a:pPr>
            <a:r>
              <a:t>RF median and spread support robust generalization claim.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11: Robustness Across Seeds</a:t>
            </a:r>
          </a:p>
        </p:txBody>
      </p:sp>
      <p:pic>
        <p:nvPicPr>
          <p:cNvPr id="3" name="Picture 2" descr="fig11_robustness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Seed-wise trajectories reveal variance behavior by model.</a:t>
            </a:r>
          </a:p>
          <a:p>
            <a:pPr>
              <a:defRPr sz="1500"/>
            </a:pPr>
            <a:r>
              <a:t>Shows RF remains consistently strong across splits.</a:t>
            </a:r>
          </a:p>
          <a:p>
            <a:pPr>
              <a:defRPr sz="1500"/>
            </a:pPr>
            <a:r>
              <a:t>Complements boxplot with temporal/seed-level visibility.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12: Scaling Ablation (4 Combinations)</a:t>
            </a:r>
          </a:p>
        </p:txBody>
      </p:sp>
      <p:pic>
        <p:nvPicPr>
          <p:cNvPr id="3" name="Picture 2" descr="fig12_scaling_ablation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Explicitly tests all required scaler on/off combinations for RF/MLP.</a:t>
            </a:r>
          </a:p>
          <a:p>
            <a:pPr>
              <a:defRPr sz="1500"/>
            </a:pPr>
            <a:r>
              <a:t>RF performs best unscaled in this setup; scaled RF is slightly worse.</a:t>
            </a:r>
          </a:p>
          <a:p>
            <a:pPr>
              <a:defRPr sz="1500"/>
            </a:pPr>
            <a:r>
              <a:t>Documents preprocessing impact with direct experimental evidence.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16128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Figure 13: Runtime Analysis</a:t>
            </a:r>
          </a:p>
        </p:txBody>
      </p:sp>
      <p:pic>
        <p:nvPicPr>
          <p:cNvPr id="3" name="Picture 2" descr="fig13_runtim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777240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83879" y="777240"/>
            <a:ext cx="36118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Reports wall-clock training and inference costs.</a:t>
            </a:r>
          </a:p>
          <a:p>
            <a:pPr>
              <a:defRPr sz="1500"/>
            </a:pPr>
            <a:r>
              <a:t>Both models are fast at inference for this dataset size.</a:t>
            </a:r>
          </a:p>
          <a:p>
            <a:pPr>
              <a:defRPr sz="1500"/>
            </a:pPr>
            <a:r>
              <a:t>Supports practical deployment discussion in report/presentation.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13</Slides>
  <Notes>13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2026-05-09T21:00:01Z</dcterms:modified>
  <cp:category/>
</cp:coreProperties>
</file>