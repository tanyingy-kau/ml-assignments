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6A4A8C"/>
                </a:solidFill>
              </a:defRPr>
            </a:pPr>
            <a:r>
              <a:t>Ethanol Prediction</a:t>
            </a:r>
          </a:p>
          <a:p>
            <a:pPr algn="ctr">
              <a:defRPr sz="4400" b="1">
                <a:solidFill>
                  <a:srgbClr val="6A4A8C"/>
                </a:solidFill>
              </a:defRPr>
            </a:pPr>
            <a:r>
              <a:t>in Syngas Fermentation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282828"/>
                </a:solidFill>
              </a:defRPr>
            </a:pPr>
            <a:r>
              <a:t>Machine Learning 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82828"/>
                </a:solidFill>
              </a:defRPr>
            </a:pPr>
            <a:r>
              <a:t>Ying Tan | CIS 732 / CIS 830</a:t>
            </a:r>
          </a:p>
          <a:p>
            <a:pPr algn="ctr">
              <a:defRPr sz="1800">
                <a:solidFill>
                  <a:srgbClr val="282828"/>
                </a:solidFill>
              </a:defRPr>
            </a:pPr>
            <a:r>
              <a:t>Kansas State University | Spring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Background &amp;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Background: Syngas fermentation produces ethanol from syngas (CO, CO2, H2, N2)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Problem: Need accurate ethanol prediction for real-time process control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Dataset: 176 experimental samples from SyngasMachineLearning repository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Features: time, N2, CO, CO2, H2, flow rate, composition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Models: Linear Regression vs Random Forest (200 trees) vs MLP (64→32)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Metrics: RMSE, MAE, R² | Testing: 30-fold cross-validation + paired statistical tests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Performance: Test Set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Linear Regression (baseline):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RMSE = 12.1832 mM  |  MAE = 9.2922  |  R² = 0.6340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Random Forest (best):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RMSE = 4.3706 mM  |  MAE = 3.0850  |  R² = 0.9529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MLP Regressor: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RMSE = 5.5337 mM  |  MAE = 4.0084  |  R² = 0.9245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Random Forest achieves 65% lower error than Linear Regression</a:t>
            </a:r>
          </a:p>
        </p:txBody>
      </p:sp>
      <p:pic>
        <p:nvPicPr>
          <p:cNvPr id="6" name="Picture 5" descr="syngas_metric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23456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Robustness: 30-Fold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Linear Regression: 14.40 ± 1.78 mM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Random Forest:     9.48 ± 1.80 mM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MLP:               9.73 ± 2.60 mM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Random Forest maintains consistent superior performance across all splits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Statistical Significance: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Paired t-test p-value: 2.79e-06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Wilcoxon p-value: 3.02e-06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Both p &lt;&lt; 0.05 → RF is statistically proven better than LR</a:t>
            </a:r>
          </a:p>
        </p:txBody>
      </p:sp>
      <p:pic>
        <p:nvPicPr>
          <p:cNvPr id="6" name="Picture 5" descr="syngas_robustness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23456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Best Model: Random Forest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41148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Accuracy Metrics (Test Set, 35 samples):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R² = 0.9529 → explains 95.3% of ethanol variance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RMSE = 4.3706 mM → average prediction error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MAE = 3.0850 mM → mean absolute error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Why Random Forest excels: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Ensemble of 200 decision trees reduces overfitting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No feature scaling needed; captures non-linear patterns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Naturally handles mixed data types (continuous + categorical)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Robust to outliers and missing value strategies</a:t>
            </a:r>
          </a:p>
        </p:txBody>
      </p:sp>
      <p:pic>
        <p:nvPicPr>
          <p:cNvPr id="6" name="Picture 5" descr="syngas_rf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371600"/>
            <a:ext cx="3931920" cy="23456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Key Conclusions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1. Random Forest significantly outperforms Linear Regression (65% error reduction)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2. Statistical tests (p &lt; 3e-6) prove superiority is genuine, not random luck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3. 30-fold robustness testing confirms stable, generalizable performance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4. RF achieves R² = 0.9529, exceeding typical engineering acceptance (R² &gt; 0.90)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5. RECOMMENDATION: Deploy Random Forest for real-time syngas fermentation monitoring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Q1: Most Technically Challenging Aspect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Feature scaling complexity: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MLP requires StandardScaler; Random Forest does not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Risk of scaling bias with small dataset (176 samples)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Hyperparameter tuning on limited data: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Only 35 test samples (20% split) = small validation set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RF with 200 trees: balancing overfitting vs underfitting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Statistical testing with small 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Paired t-test assumes normality; Wilcoxon as non-parametric backup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Both tests required to ensure robustness of significance claim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Q2: Most Important 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Ensemble methods dominate small tabular datasets: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Why: Random Forest averages 200 trees → reduced overfitting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Statistical significance ≠ empirical performance: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High R² alone insufficient; need p-value proof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Our p &lt; 3e-6 provides overwhelming evidence RF is better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Reproducibility through seeds and robustness: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Fixed seed 42: reproducible baseline for debugging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30-fold CV: proves stability across different data splits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This two-phase approach essential in machine learning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6A4A8C"/>
          </a:solidFill>
          <a:ln>
            <a:solidFill>
              <a:srgbClr val="6A4A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Q3: Future Work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82296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Feature importance analysis: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Which gases (CO/CO2/H2) drive ethanol production?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SHAP values for model explainability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Hyperparameter optimization: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Grid search: RF tree depth, min_samples_leaf, n_estimators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Early stopping: prevent MLP convergence warnings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Real-world deployment: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Validate on out-of-lab fermentation data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Integrate into SCADA system for live monitoring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>
                <a:solidFill>
                  <a:srgbClr val="282828"/>
                </a:solidFill>
              </a:defRPr>
            </a:pPr>
            <a:r>
              <a:t>  • Performance tracking and model retraining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EB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6A4A8C"/>
                </a:solidFill>
              </a:defRPr>
            </a:pPr>
            <a:r>
              <a:t>Thank You</a:t>
            </a:r>
          </a:p>
          <a:p>
            <a:pPr algn="ctr">
              <a:defRPr sz="4800" b="1">
                <a:solidFill>
                  <a:srgbClr val="6A4A8C"/>
                </a:solidFill>
              </a:defRPr>
            </a:pPr>
          </a:p>
          <a:p>
            <a:pPr algn="ctr">
              <a:defRPr sz="4800" b="1">
                <a:solidFill>
                  <a:srgbClr val="6A4A8C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572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>
                <a:solidFill>
                  <a:srgbClr val="282828"/>
                </a:solidFill>
              </a:defRPr>
            </a:pPr>
            <a:r>
              <a:t>Code &amp; Data:</a:t>
            </a:r>
          </a:p>
          <a:p>
            <a:pPr algn="ctr">
              <a:defRPr sz="1600">
                <a:solidFill>
                  <a:srgbClr val="282828"/>
                </a:solidFill>
              </a:defRPr>
            </a:pPr>
            <a:r>
              <a:t>https://github.com/garrettroell/SyngasMachineLearning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0" y="6492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6A4A8C"/>
                </a:solidFill>
              </a:defRPr>
            </a:pPr>
            <a:r>
              <a:t>Slide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