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Ethanol Prediction in Syngas Fermentation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CIS 732/830 Final Project</a:t>
            </a:r>
          </a:p>
          <a:p>
            <a:r>
              <a:t>Ying Tan</a:t>
            </a:r>
          </a:p>
          <a:p>
            <a:r>
              <a:t>Regenerated on May 10,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Overview and Key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Dataset: 176 samples, 7 features, target = ethanol (mM)</a:t>
            </a:r>
          </a:p>
          <a:p>
            <a:pPr>
              <a:defRPr sz="1600"/>
            </a:pPr>
            <a:r>
              <a:t>Models: Linear Regression, Random Forest, MLP</a:t>
            </a:r>
          </a:p>
          <a:p>
            <a:pPr>
              <a:defRPr sz="1600"/>
            </a:pPr>
            <a:r>
              <a:t>Fixed split test: RF RMSE=4.3706, R2=0.9529 (best)</a:t>
            </a:r>
          </a:p>
          <a:p>
            <a:pPr>
              <a:defRPr sz="1600"/>
            </a:pPr>
            <a:r>
              <a:t>Fixed split test: MLP RMSE=5.5337, R2=0.9245</a:t>
            </a:r>
          </a:p>
          <a:p>
            <a:pPr>
              <a:defRPr sz="1600"/>
            </a:pPr>
            <a:r>
              <a:t>Fixed split test: LR RMSE=12.1832, R2=0.6340</a:t>
            </a:r>
          </a:p>
          <a:p>
            <a:pPr>
              <a:defRPr sz="1600"/>
            </a:pPr>
            <a:r>
              <a:t>Statistical significance: paired t-test p=2.79e-06, Wilcoxon p=3.02e-06</a:t>
            </a:r>
          </a:p>
          <a:p>
            <a:pPr>
              <a:defRPr sz="1600"/>
            </a:pPr>
            <a:r>
              <a:t>This deck includes ALL generated figures (Fig1-Fig13).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Figure 1 - Data Distributions</a:t>
            </a:r>
          </a:p>
        </p:txBody>
      </p:sp>
      <p:pic>
        <p:nvPicPr>
          <p:cNvPr id="3" name="Picture 2" descr="fig1_data_distrib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77240"/>
            <a:ext cx="1143000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Figure 2 - Feature vs Target</a:t>
            </a:r>
          </a:p>
        </p:txBody>
      </p:sp>
      <p:pic>
        <p:nvPicPr>
          <p:cNvPr id="3" name="Picture 2" descr="fig2_feature_vs_tar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77240"/>
            <a:ext cx="1143000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Figure 3 - MLP Training Loss Curve</a:t>
            </a:r>
          </a:p>
        </p:txBody>
      </p:sp>
      <p:pic>
        <p:nvPicPr>
          <p:cNvPr id="3" name="Picture 2" descr="fig3_mlp_training_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77240"/>
            <a:ext cx="1143000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Figure 4 - Train vs Test Performance</a:t>
            </a:r>
          </a:p>
        </p:txBody>
      </p:sp>
      <p:pic>
        <p:nvPicPr>
          <p:cNvPr id="3" name="Picture 2" descr="fig4_train_vs_test_perform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77240"/>
            <a:ext cx="1143000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Figure 5 - LR Actual vs Predicted</a:t>
            </a:r>
          </a:p>
        </p:txBody>
      </p:sp>
      <p:pic>
        <p:nvPicPr>
          <p:cNvPr id="3" name="Picture 2" descr="fig5_scatter_LR_train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77240"/>
            <a:ext cx="1143000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Figure 6 - RF Actual vs Predicted</a:t>
            </a:r>
          </a:p>
        </p:txBody>
      </p:sp>
      <p:pic>
        <p:nvPicPr>
          <p:cNvPr id="3" name="Picture 2" descr="fig6_scatter_RF_train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77240"/>
            <a:ext cx="1143000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Figure 7 - MLP Actual vs Predicted</a:t>
            </a:r>
          </a:p>
        </p:txBody>
      </p:sp>
      <p:pic>
        <p:nvPicPr>
          <p:cNvPr id="3" name="Picture 2" descr="fig7_scatter_MLP_train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77240"/>
            <a:ext cx="1143000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Figure 8 - RF Feature Importance</a:t>
            </a:r>
          </a:p>
        </p:txBody>
      </p:sp>
      <p:pic>
        <p:nvPicPr>
          <p:cNvPr id="3" name="Picture 2" descr="fig8_RF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77240"/>
            <a:ext cx="1143000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Figure 9 - Error Comparison</a:t>
            </a:r>
          </a:p>
        </p:txBody>
      </p:sp>
      <p:pic>
        <p:nvPicPr>
          <p:cNvPr id="3" name="Picture 2" descr="fig9_error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77240"/>
            <a:ext cx="1143000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Figure 10 - Robustness Boxplot</a:t>
            </a:r>
          </a:p>
        </p:txBody>
      </p:sp>
      <p:pic>
        <p:nvPicPr>
          <p:cNvPr id="3" name="Picture 2" descr="fig10_robustness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77240"/>
            <a:ext cx="1143000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Figure 11 - Robustness Across Seeds</a:t>
            </a:r>
          </a:p>
        </p:txBody>
      </p:sp>
      <p:pic>
        <p:nvPicPr>
          <p:cNvPr id="3" name="Picture 2" descr="fig11_robustness_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77240"/>
            <a:ext cx="1143000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Figure 12 - Scaling Ablation (4 Combos)</a:t>
            </a:r>
          </a:p>
        </p:txBody>
      </p:sp>
      <p:pic>
        <p:nvPicPr>
          <p:cNvPr id="3" name="Picture 2" descr="fig12_scaling_ablation_rm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77240"/>
            <a:ext cx="1143000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Figure 13 - Runtime Analysis</a:t>
            </a:r>
          </a:p>
        </p:txBody>
      </p:sp>
      <p:pic>
        <p:nvPicPr>
          <p:cNvPr id="3" name="Picture 2" descr="fig13_runtime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77240"/>
            <a:ext cx="1143000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Random Forest is the best-performing model for this dataset.</a:t>
            </a:r>
          </a:p>
          <a:p>
            <a:pPr>
              <a:defRPr sz="1600"/>
            </a:pPr>
            <a:r>
              <a:t>Best fixed-split performance: RF RMSE=4.3706, R2=0.9529.</a:t>
            </a:r>
          </a:p>
          <a:p>
            <a:pPr>
              <a:defRPr sz="1600"/>
            </a:pPr>
            <a:r>
              <a:t>Robustness analysis across 30 random splits supports model stability.</a:t>
            </a:r>
          </a:p>
          <a:p>
            <a:pPr>
              <a:defRPr sz="1600"/>
            </a:pPr>
            <a:r>
              <a:t>Scaling ablation confirms RF should remain unscaled in this setup.</a:t>
            </a:r>
          </a:p>
          <a:p>
            <a:pPr>
              <a:defRPr sz="1600"/>
            </a:pPr>
            <a:r>
              <a:t>MLP requires careful optimization and shows sensitivity to settings.</a:t>
            </a:r>
          </a:p>
          <a:p>
            <a:pPr>
              <a:defRPr sz="1600"/>
            </a:pPr>
            <a:r>
              <a:t>Hypothesis tests are significant (t-test p=2.79e-06, Wilcoxon p=3.02e-06).</a:t>
            </a:r>
          </a:p>
          <a:p>
            <a:pPr>
              <a:defRPr sz="1600"/>
            </a:pPr>
            <a:r>
              <a:t>Recommendation: deploy RF as the primary soft-sensor model; extend with online updates in future work.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