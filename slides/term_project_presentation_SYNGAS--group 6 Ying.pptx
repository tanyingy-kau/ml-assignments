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Ethanol Concentration Prediction in Syngas Fermentation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CIS 732/830 Final Project</a:t>
            </a:r>
          </a:p>
          <a:p>
            <a:r>
              <a:t>Ying Tan</a:t>
            </a:r>
          </a:p>
          <a:p>
            <a:r>
              <a:t>Merged deck (no duplicate sections)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Dataset: 176 samples, 7 features, target = ethanol (mM)</a:t>
            </a:r>
          </a:p>
          <a:p>
            <a:pPr>
              <a:defRPr sz="1600"/>
            </a:pPr>
            <a:r>
              <a:t>RF test: RMSE=4.3706, MAE=3.0850, R2=0.9529 (best)</a:t>
            </a:r>
          </a:p>
          <a:p>
            <a:pPr>
              <a:defRPr sz="1600"/>
            </a:pPr>
            <a:r>
              <a:t>MLP test: RMSE=5.5337, MAE=4.0084, R2=0.9245</a:t>
            </a:r>
          </a:p>
          <a:p>
            <a:pPr>
              <a:defRPr sz="1600"/>
            </a:pPr>
            <a:r>
              <a:t>LR test: RMSE=12.1832, MAE=9.2922, R2=0.6340</a:t>
            </a:r>
          </a:p>
          <a:p>
            <a:pPr>
              <a:defRPr sz="1600"/>
            </a:pPr>
            <a:r>
              <a:t>Statistical tests: paired t-test p=2.79e-06, Wilcoxon p=3.02e-06</a:t>
            </a:r>
          </a:p>
          <a:p>
            <a:pPr>
              <a:defRPr sz="1600"/>
            </a:pPr>
            <a:r>
              <a:t>Slides 3-15 cover Figure 1 to Figure 13 with explanations.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Figure 1: Data Distributions</a:t>
            </a:r>
          </a:p>
        </p:txBody>
      </p:sp>
      <p:pic>
        <p:nvPicPr>
          <p:cNvPr id="3" name="Picture 2" descr="fig1_data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786384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77240"/>
            <a:ext cx="3474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Shows spread/skewness of all features and target.</a:t>
            </a:r>
          </a:p>
          <a:p>
            <a:pPr>
              <a:defRPr sz="1500"/>
            </a:pPr>
            <a:r>
              <a:t>Confirms heterogeneous feature scales.</a:t>
            </a:r>
          </a:p>
          <a:p>
            <a:pPr>
              <a:defRPr sz="1500"/>
            </a:pPr>
            <a:r>
              <a:t>Supports preprocessing and scaling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Figure 2: Feature vs Target</a:t>
            </a:r>
          </a:p>
        </p:txBody>
      </p:sp>
      <p:pic>
        <p:nvPicPr>
          <p:cNvPr id="3" name="Picture 2" descr="fig2_feature_vs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786384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77240"/>
            <a:ext cx="3474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Visual evidence of nonlinear relationships.</a:t>
            </a:r>
          </a:p>
          <a:p>
            <a:pPr>
              <a:defRPr sz="1500"/>
            </a:pPr>
            <a:r>
              <a:t>Motivates RF/MLP beyond linear baseline.</a:t>
            </a:r>
          </a:p>
          <a:p>
            <a:pPr>
              <a:defRPr sz="1500"/>
            </a:pPr>
            <a:r>
              <a:t>Helps identify interaction effects.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Figure 3: MLP Training Loss Curve</a:t>
            </a:r>
          </a:p>
        </p:txBody>
      </p:sp>
      <p:pic>
        <p:nvPicPr>
          <p:cNvPr id="3" name="Picture 2" descr="fig3_mlp_training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786384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77240"/>
            <a:ext cx="3474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Tracks optimization behavior across epochs.</a:t>
            </a:r>
          </a:p>
          <a:p>
            <a:pPr>
              <a:defRPr sz="1500"/>
            </a:pPr>
            <a:r>
              <a:t>Shows convergence trend and sensitivity.</a:t>
            </a:r>
          </a:p>
          <a:p>
            <a:pPr>
              <a:defRPr sz="1500"/>
            </a:pPr>
            <a:r>
              <a:t>Used for training-dynamics discussion.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Figure 4: Train vs Test Performance</a:t>
            </a:r>
          </a:p>
        </p:txBody>
      </p:sp>
      <p:pic>
        <p:nvPicPr>
          <p:cNvPr id="3" name="Picture 2" descr="fig4_train_vs_tes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786384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77240"/>
            <a:ext cx="3474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Compares generalization across LR/RF/MLP.</a:t>
            </a:r>
          </a:p>
          <a:p>
            <a:pPr>
              <a:defRPr sz="1500"/>
            </a:pPr>
            <a:r>
              <a:t>RF has strongest test metrics.</a:t>
            </a:r>
          </a:p>
          <a:p>
            <a:pPr>
              <a:defRPr sz="1500"/>
            </a:pPr>
            <a:r>
              <a:t>Useful for overfit/underfit diagnosis.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Figure 5: LR Actual vs Predicted</a:t>
            </a:r>
          </a:p>
        </p:txBody>
      </p:sp>
      <p:pic>
        <p:nvPicPr>
          <p:cNvPr id="3" name="Picture 2" descr="fig5_scatter_LR_train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786384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77240"/>
            <a:ext cx="3474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Baseline behavior on train/test splits.</a:t>
            </a:r>
          </a:p>
          <a:p>
            <a:pPr>
              <a:defRPr sz="1500"/>
            </a:pPr>
            <a:r>
              <a:t>Larger deviation from diagonal than RF/MLP.</a:t>
            </a:r>
          </a:p>
          <a:p>
            <a:pPr>
              <a:defRPr sz="1500"/>
            </a:pPr>
            <a:r>
              <a:t>Reference for significance tests.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Figure 6: RF Actual vs Predicted</a:t>
            </a:r>
          </a:p>
        </p:txBody>
      </p:sp>
      <p:pic>
        <p:nvPicPr>
          <p:cNvPr id="3" name="Picture 2" descr="fig6_scatter_RF_train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786384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77240"/>
            <a:ext cx="3474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Predictions cluster close to diagonal.</a:t>
            </a:r>
          </a:p>
          <a:p>
            <a:pPr>
              <a:defRPr sz="1500"/>
            </a:pPr>
            <a:r>
              <a:t>Best test performance among compared models.</a:t>
            </a:r>
          </a:p>
          <a:p>
            <a:pPr>
              <a:defRPr sz="1500"/>
            </a:pPr>
            <a:r>
              <a:t>Primary deployment candidate evidence.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Figure 7: MLP Actual vs Predicted</a:t>
            </a:r>
          </a:p>
        </p:txBody>
      </p:sp>
      <p:pic>
        <p:nvPicPr>
          <p:cNvPr id="3" name="Picture 2" descr="fig7_scatter_MLP_train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786384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77240"/>
            <a:ext cx="3474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Nonlinear fit is competitive with RF.</a:t>
            </a:r>
          </a:p>
          <a:p>
            <a:pPr>
              <a:defRPr sz="1500"/>
            </a:pPr>
            <a:r>
              <a:t>Sensitivity appears higher than RF.</a:t>
            </a:r>
          </a:p>
          <a:p>
            <a:pPr>
              <a:defRPr sz="1500"/>
            </a:pPr>
            <a:r>
              <a:t>Interpreted with scaling ablation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Figure 8: RF Feature Importance</a:t>
            </a:r>
          </a:p>
        </p:txBody>
      </p:sp>
      <p:pic>
        <p:nvPicPr>
          <p:cNvPr id="3" name="Picture 2" descr="fig8_RF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786384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77240"/>
            <a:ext cx="3474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Ranks feature contributions in RF.</a:t>
            </a:r>
          </a:p>
          <a:p>
            <a:pPr>
              <a:defRPr sz="1500"/>
            </a:pPr>
            <a:r>
              <a:t>Improves interpretability for operations.</a:t>
            </a:r>
          </a:p>
          <a:p>
            <a:pPr>
              <a:defRPr sz="1500"/>
            </a:pPr>
            <a:r>
              <a:t>Guides future feature engineering.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Figure 9: Error Comparison</a:t>
            </a:r>
          </a:p>
        </p:txBody>
      </p:sp>
      <p:pic>
        <p:nvPicPr>
          <p:cNvPr id="3" name="Picture 2" descr="fig9_erro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786384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77240"/>
            <a:ext cx="3474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Compares test-set error distributions.</a:t>
            </a:r>
          </a:p>
          <a:p>
            <a:pPr>
              <a:defRPr sz="1500"/>
            </a:pPr>
            <a:r>
              <a:t>Paired sample view supports hypothesis testing.</a:t>
            </a:r>
          </a:p>
          <a:p>
            <a:pPr>
              <a:defRPr sz="1500"/>
            </a:pPr>
            <a:r>
              <a:t>RF errors are generally lower than LR.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Figure 10: Robustness Boxplot</a:t>
            </a:r>
          </a:p>
        </p:txBody>
      </p:sp>
      <p:pic>
        <p:nvPicPr>
          <p:cNvPr id="3" name="Picture 2" descr="fig10_robustness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786384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77240"/>
            <a:ext cx="3474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RMSE distribution over 30 random splits.</a:t>
            </a:r>
          </a:p>
          <a:p>
            <a:pPr>
              <a:defRPr sz="1500"/>
            </a:pPr>
            <a:r>
              <a:t>Measures stability beyond one split.</a:t>
            </a:r>
          </a:p>
          <a:p>
            <a:pPr>
              <a:defRPr sz="1500"/>
            </a:pPr>
            <a:r>
              <a:t>RF remains most stable overall.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Figure 11: Robustness Across Seeds</a:t>
            </a:r>
          </a:p>
        </p:txBody>
      </p:sp>
      <p:pic>
        <p:nvPicPr>
          <p:cNvPr id="3" name="Picture 2" descr="fig11_robustness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786384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77240"/>
            <a:ext cx="3474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Seed-level RMSE trajectories by model.</a:t>
            </a:r>
          </a:p>
          <a:p>
            <a:pPr>
              <a:defRPr sz="1500"/>
            </a:pPr>
            <a:r>
              <a:t>Shows variance behavior directly.</a:t>
            </a:r>
          </a:p>
          <a:p>
            <a:pPr>
              <a:defRPr sz="1500"/>
            </a:pPr>
            <a:r>
              <a:t>Complements Figure 10 statistics.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Figure 12: Scaling Ablation (4 Combinations)</a:t>
            </a:r>
          </a:p>
        </p:txBody>
      </p:sp>
      <p:pic>
        <p:nvPicPr>
          <p:cNvPr id="3" name="Picture 2" descr="fig12_scaling_ablation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786384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77240"/>
            <a:ext cx="3474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Tests all required scaler on/off combinations.</a:t>
            </a:r>
          </a:p>
          <a:p>
            <a:pPr>
              <a:defRPr sz="1500"/>
            </a:pPr>
            <a:r>
              <a:t>RF unscaled performs best in this dataset.</a:t>
            </a:r>
          </a:p>
          <a:p>
            <a:pPr>
              <a:defRPr sz="1500"/>
            </a:pPr>
            <a:r>
              <a:t>Documents preprocessing impact explicitly.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Figure 13: Runtime Analysis</a:t>
            </a:r>
          </a:p>
        </p:txBody>
      </p:sp>
      <p:pic>
        <p:nvPicPr>
          <p:cNvPr id="3" name="Picture 2" descr="fig13_runtime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786384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77240"/>
            <a:ext cx="3474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Wall-clock training and inference comparison.</a:t>
            </a:r>
          </a:p>
          <a:p>
            <a:pPr>
              <a:defRPr sz="1500"/>
            </a:pPr>
            <a:r>
              <a:t>Inference is sub-millisecond per sample.</a:t>
            </a:r>
          </a:p>
          <a:p>
            <a:pPr>
              <a:defRPr sz="1500"/>
            </a:pPr>
            <a:r>
              <a:t>Runtime is acceptable for deployment.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Random Forest is selected as the primary model for this dataset.</a:t>
            </a:r>
          </a:p>
          <a:p>
            <a:pPr>
              <a:defRPr sz="1600"/>
            </a:pPr>
            <a:r>
              <a:t>Best fixed-split result: RF RMSE=4.3706, R2=0.9529</a:t>
            </a:r>
          </a:p>
          <a:p>
            <a:pPr>
              <a:defRPr sz="1600"/>
            </a:pPr>
            <a:r>
              <a:t>30-split robustness supports stable generalization.</a:t>
            </a:r>
          </a:p>
          <a:p>
            <a:pPr>
              <a:defRPr sz="1600"/>
            </a:pPr>
            <a:r>
              <a:t>Scaling ablation and runtime analyses were fully completed.</a:t>
            </a:r>
          </a:p>
          <a:p>
            <a:pPr>
              <a:defRPr sz="1600"/>
            </a:pPr>
            <a:r>
              <a:t>Significance confirmed: t-test p=2.79e-06, Wilcoxon p=3.02e-06</a:t>
            </a:r>
          </a:p>
          <a:p>
            <a:pPr>
              <a:defRPr sz="1600"/>
            </a:pPr>
            <a:r>
              <a:t>Final recommendation: deploy RF first, keep MLP for future extensions.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