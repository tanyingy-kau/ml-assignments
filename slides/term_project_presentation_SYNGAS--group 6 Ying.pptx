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Title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11064240" cy="448056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Ethanol Concentration Prediction</a:t>
            </a:r>
            <a:br/>
            <a:r>
              <a:t>in Syngas Fermentation</a:t>
            </a:r>
          </a:p>
          <a:p>
            <a:pPr algn="ctr">
              <a:defRPr sz="2200">
                <a:solidFill>
                  <a:srgbClr val="E8E2F0"/>
                </a:solidFill>
              </a:defRPr>
            </a:pPr>
            <a:r>
              <a:t>CIS 732/830 Final Project</a:t>
            </a:r>
          </a:p>
          <a:p>
            <a:pPr algn="ctr">
              <a:defRPr sz="1800">
                <a:solidFill>
                  <a:srgbClr val="E8E2F0"/>
                </a:solidFill>
              </a:defRPr>
            </a:pPr>
            <a:r>
              <a:t>Ying Tan | K-State Theme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89920" cy="4480560"/>
          </a:xfrm>
          <a:prstGeom prst="roundRect">
            <a:avLst/>
          </a:prstGeom>
          <a:solidFill>
            <a:srgbClr val="F6F4FA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00200"/>
            <a:ext cx="101498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251F2D"/>
                </a:solidFill>
              </a:defRPr>
            </a:pPr>
            <a:r>
              <a:t>Dataset: 176 samples, 7 features, target = ethanol (mM)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RF test: RMSE=4.3706, MAE=3.0850, R2=0.9529 (best)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MLP test: RMSE=5.5337, MAE=4.0084, R2=0.9245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LR test: RMSE=12.1832, MAE=9.2922, R2=0.6340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Statistical tests: paired t-test p=2.79e-06, Wilcoxon p=3.02e-06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Slides 3-15 cover Figure 1 to Figure 13 with explanations.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1: Data Distributions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_dat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Shows spread/skewness of all features and target.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Confirms heterogeneous feature scales.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Supports preprocessing and scaling decisions.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2: Feature vs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2_feature_vs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Visual evidence of nonlinear relationships.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Motivates RF/MLP beyond linear baseline.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Helps identify interaction effects.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3: MLP Training Loss Curve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3_mlp_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Tracks optimization behavior across epochs.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Shows convergence trend and sensitivity.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Used for training-dynamics discussion.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4: Train vs Test Performance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_train_vs_test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Compares generalization across LR/RF/MLP.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RF has strongest test metrics.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Useful for overfit/underfit diagnosis.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5: LR Actual vs Predicted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5_scatter_LR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Baseline behavior on train/test splits.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Larger deviation from diagonal than RF/MLP.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Reference for significance tests.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6: RF Actual vs Predicted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6_scatter_RF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Predictions cluster close to diagonal.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Best test performance among compared models.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Primary deployment candidate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7: MLP Actual vs Predicted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7_scatter_MLP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Nonlinear fit is competitive with RF.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Sensitivity appears higher than RF.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Interpreted with scaling ablation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8: RF Feature Importance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8_RF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Ranks feature contributions in RF.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Improves interpretability for operations.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Guides future feature engineering.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9: Error Comparison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9_err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Compares test-set error distributions.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Paired sample view supports hypothesis testing.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RF errors are generally lower than LR.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10: Robustness Boxplot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0_robustnes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RMSE distribution over 30 random splits.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Measures stability beyond one split.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RF remains most stable overall.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11: Robustness Across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1_robustness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Seed-level RMSE trajectories by model.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Shows variance behavior directly.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Complements Figure 10 statistics.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12: Scaling Ablation (4 Combinations)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2_scaling_ablation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Tests all required scaler on/off combinations.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RF unscaled performs best in this dataset.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Documents preprocessing impact explicitly.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Figure 13: Runtime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51560"/>
            <a:ext cx="8092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13_runtim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61872"/>
            <a:ext cx="7680960" cy="4480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051560"/>
            <a:ext cx="3063240" cy="4892040"/>
          </a:xfrm>
          <a:prstGeom prst="roundRect">
            <a:avLst/>
          </a:prstGeom>
          <a:solidFill>
            <a:srgbClr val="F7F4FC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7968" y="1234440"/>
            <a:ext cx="2651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251F2D"/>
                </a:solidFill>
              </a:defRPr>
            </a:pPr>
            <a:r>
              <a:t>- Wall-clock training and inference comparison.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Inference is sub-millisecond per sample.</a:t>
            </a:r>
          </a:p>
          <a:p>
            <a:pPr>
              <a:defRPr sz="1400">
                <a:solidFill>
                  <a:srgbClr val="251F2D"/>
                </a:solidFill>
              </a:defRPr>
            </a:pPr>
            <a:r>
              <a:t>- Runtime is acceptable for deployment.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623560"/>
            <a:ext cx="74066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25D6C"/>
                </a:solidFill>
              </a:defRPr>
            </a:pPr>
            <a:r>
              <a:t>All values and figures are generated from scripts/syngas_analysis.py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C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512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ECE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6601968"/>
            <a:ext cx="115214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44C66"/>
                </a:solidFill>
              </a:defRPr>
            </a:pPr>
            <a:r>
              <a:t>Kansas State University | CIS 732/830 |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12888"/>
                </a:solidFill>
              </a:defRPr>
            </a:pPr>
            <a:r>
              <a:t>Conclusion and Recommendation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89920" cy="4480560"/>
          </a:xfrm>
          <a:prstGeom prst="roundRect">
            <a:avLst/>
          </a:prstGeom>
          <a:solidFill>
            <a:srgbClr val="F6F4FA"/>
          </a:solidFill>
          <a:ln>
            <a:solidFill>
              <a:srgbClr val="E8E2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00200"/>
            <a:ext cx="101498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251F2D"/>
                </a:solidFill>
              </a:defRPr>
            </a:pPr>
            <a:r>
              <a:t>Random Forest is selected as the primary model for this dataset.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Best fixed-split result: RF RMSE=4.3706, R2=0.9529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30-split robustness supports stable generalization.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Scaling ablation and runtime analyses were fully completed.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Significance confirmed: t-test p=2.79e-06, Wilcoxon p=3.02e-06</a:t>
            </a:r>
          </a:p>
          <a:p>
            <a:pPr>
              <a:defRPr sz="1800">
                <a:solidFill>
                  <a:srgbClr val="251F2D"/>
                </a:solidFill>
              </a:defRPr>
            </a:pPr>
            <a:r>
              <a:t>Final recommendation: deploy RF first, keep MLP for future extensions.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